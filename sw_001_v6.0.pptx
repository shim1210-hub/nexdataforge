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" y="685800"/>
            <a:ext cx="1088136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1560" y="1051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1074420"/>
            <a:ext cx="1417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71323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개발사가 그대로 참고할 수 있는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화면설계서 v5.0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8992" y="2743200"/>
            <a:ext cx="58521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메이커24와 같은 홈페이지 제작 서비스를 기준으로,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 사이트를 생성하고 사용자는 권한에 따라 게시판/자료실을 관리하는 구조입니다.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0700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0700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입력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42316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0604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1576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1576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선택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93192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2452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2452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중/소메뉴 구성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544068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2356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3328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3328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푸터/메인 설정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94944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3232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4204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4204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생성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845820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64108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5080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5080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9966960" y="4160520"/>
            <a:ext cx="22860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149840" y="3794760"/>
            <a:ext cx="1325880" cy="731520"/>
          </a:xfrm>
          <a:prstGeom prst="roundRect">
            <a:avLst>
              <a:gd name="adj" fmla="val 1125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259568" y="3904488"/>
            <a:ext cx="1106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259568" y="4160520"/>
            <a:ext cx="11064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01/30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역할 및 전체 업무 프로세스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 / 사용자 관리 권한 분리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05156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16128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관리자 로그인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0" y="134416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80360" y="105156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0088" y="116128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업체명 입력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34416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120640" y="105156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30368" y="116128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템플릿 선택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40880" y="134416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60920" y="105156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70648" y="116128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중/소메뉴 등록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9808" y="212140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푸터/메인 설정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0" y="230428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880360" y="201168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90088" y="212140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이미지 업로드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230428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120640" y="201168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30368" y="212140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파일 생성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230428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60920" y="201168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70648" y="212140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DB 생성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297180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9808" y="308152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GitHub Push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0" y="326440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880360" y="297180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990088" y="308152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Vercel 배포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3264408"/>
            <a:ext cx="201168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120640" y="2971800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230368" y="3081528"/>
            <a:ext cx="1700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사용자 권한 부여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원칙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" y="4800600"/>
            <a:ext cx="3200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95528" y="4910328"/>
            <a:ext cx="2980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5528" y="5166360"/>
            <a:ext cx="29809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생성, 템플릿 선택, 메뉴/푸터/메인 설정, 이미지 업로드, 배포 실행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4160520" y="4800600"/>
            <a:ext cx="3200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270248" y="4910328"/>
            <a:ext cx="2980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70248" y="5166360"/>
            <a:ext cx="29809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권한 없음. 로그인 후 권한이 부여된 공지사항, 게시판, 자료실만 입력/수정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7635240" y="4800600"/>
            <a:ext cx="3200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744968" y="4910328"/>
            <a:ext cx="2980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744968" y="5166360"/>
            <a:ext cx="29809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파일 생성, Supabase CRUD, GitHub 저장, Vercel 배포 자동화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02/30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  <p:sp>
        <p:nvSpPr>
          <p:cNvPr id="47" name="TextBox 46"/>
          <p:cNvSpPr txBox="1"/>
          <p:nvPr/>
        </p:nvSpPr>
        <p:spPr>
          <a:xfrm>
            <a:off x="7818120" y="4800600"/>
            <a:ext cx="3886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v6.0 재검토 반영</a:t>
            </a:r>
          </a:p>
          <a:p>
            <a:pPr>
              <a:defRPr sz="900"/>
            </a:pPr>
            <a:r>
              <a:t>• 자체 REST API 명세 제거</a:t>
            </a:r>
          </a:p>
          <a:p>
            <a:pPr>
              <a:defRPr sz="900"/>
            </a:pPr>
            <a:r>
              <a:t>• Supabase Client 직접 CRUD 기준</a:t>
            </a:r>
          </a:p>
          <a:p>
            <a:pPr>
              <a:defRPr sz="900"/>
            </a:pPr>
            <a:r>
              <a:t>• Auth·RLS·Storage 보안 조건 추가</a:t>
            </a:r>
          </a:p>
          <a:p>
            <a:pPr>
              <a:defRPr sz="900"/>
            </a:pPr>
            <a:r>
              <a:t>• 스키마 변경은 Migration으로 제한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화면 목록 및 ID 체계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 기준 개발 범위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96012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106984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04088" y="132588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AUTH-001 관리자 로그인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3538728" y="96012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48456" y="106984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48456" y="132588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ADM-001 관리자 대시보드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483096" y="96012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92824" y="106984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92824" y="132588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SITE-001~003 사이트 생성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94360" y="173736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4088" y="210312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MENU-001~003 중/소메뉴/헤더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3538728" y="173736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48456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48456" y="210312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FOOT-001 푸터 설정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483096" y="173736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92824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92824" y="210312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MAIN-001~002 메인 레이아웃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594360" y="251460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4088" y="262432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" y="288036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ASSET-001 이미지 업로드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538728" y="251460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48456" y="262432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48456" y="288036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PAGE-001 정적 페이지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483096" y="251460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592824" y="262432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92824" y="288036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BOARD-001~003 공지/게시판/자료실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594360" y="3291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4088" y="340156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" y="365760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ROLE-001 사용자 권한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538728" y="3291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48456" y="340156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48456" y="365760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USER-001~002 사용자 CMS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483096" y="3291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92824" y="3401568"/>
            <a:ext cx="25237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PREV/GEN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92824" y="3657600"/>
            <a:ext cx="252374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미리보기/생성/검수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64008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 참고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" y="5230368"/>
            <a:ext cx="107899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프론트엔드: 관리자 페이지는 위 화면 ID를 기준으로 라우팅/컴포넌트 분리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데이터 처리: Supabase Client를 사용하여 테이블에 직접 CRUD 수행
• 보안: Supabase Auth + RLS(Row Level Security)로 관리자/사용자 권한 분리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DB: Supabase 테이블은 site_id 기준으로 모든 데이터 연결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배포: 업체명 slug를 기준으로 /sw_006/{company}/index.html 생성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03/30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디자인 시스템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관리자 화면은 동일한 컬러/컴포넌트/그리드 사용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8580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#4F46E5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685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78308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83080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#111827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80360" y="1417320"/>
            <a:ext cx="6858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8036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80360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#64748B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77640" y="1417320"/>
            <a:ext cx="685800" cy="411480"/>
          </a:xfrm>
          <a:prstGeom prst="rect">
            <a:avLst/>
          </a:prstGeom>
          <a:solidFill>
            <a:srgbClr val="DCE3EE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7764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77640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#DCE3EE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74920" y="1417320"/>
            <a:ext cx="685800" cy="41148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7492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74920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#F6F8FC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30632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104388"/>
            <a:ext cx="1417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Button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30632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31720" y="3104388"/>
            <a:ext cx="1234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86200" y="306324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977640" y="3140964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89320" y="3063240"/>
            <a:ext cx="502920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89320" y="308610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" y="388620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5528" y="3995928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5528" y="4251960"/>
            <a:ext cx="2157984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 12~16px / Shadow는 최소화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3383280" y="388620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383280" y="3886200"/>
            <a:ext cx="3657600" cy="289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56432" y="395935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4675632" y="395935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894832" y="395935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383280" y="4175760"/>
            <a:ext cx="36576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56432" y="424891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675632" y="424891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894832" y="424891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383280" y="4465320"/>
            <a:ext cx="36576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456432" y="453847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4675632" y="453847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sw_006/hicon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5894832" y="4538472"/>
            <a:ext cx="1127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76809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규칙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726680" y="1508760"/>
            <a:ext cx="36576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Font: Pretendard 또는 Noto Sans KR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Spacing: 8px 기준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Radius: 12px / 16px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Layout: 좌측 Sidebar + 상단 Toolbar + 본문 Card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화면설계서의 버튼명/필드명/테이블명/권한 정책을 개발 기준으로 사용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04/30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AUTH-001 관리자 로그인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권한은 관리자에게만 부여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9768" y="129844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로그인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240280" y="1847088"/>
            <a:ext cx="45720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6032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로그인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60320" y="2487168"/>
            <a:ext cx="3291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및 배포는 관리자 권한으로만 가능합니다.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2944368"/>
            <a:ext cx="3291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0" y="3172968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651760" y="3250692"/>
            <a:ext cx="3108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admin@company.co.kr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256032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3904488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651760" y="3982212"/>
            <a:ext cx="3108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********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2560320" y="4498848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560320" y="4539996"/>
            <a:ext cx="3291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5001768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560320" y="5042916"/>
            <a:ext cx="3291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재설정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AUTH-001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로그인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 사이트 생성/배포 기능에 접근한다.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이메일/비밀번호 로그인, 세션 유지, 비밀번호 재설정.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클릭 → Supabase Auth signInWithPassword 실행 → 성공 시 ADM-001 이동.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Supabase Auth</a:t>
            </a:r>
          </a:p>
          <a:p>
            <a:r>
              <a:rPr sz="850"/>
              <a:t>signInWithPassword / signOut</a:t>
            </a:r>
          </a:p>
        </p:txBody>
      </p:sp>
      <p:sp>
        <p:nvSpPr>
          <p:cNvPr id="55" name="Shape 53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admin_user, auth_session, audit_log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형식, 비밀번호 필수, ROLE_ADMIN만 허용.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CMS 로그인과 분리. 생성 권한은 절대 사용자에게 노출하지 않음.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05/30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ADM-001 관리자 대시보드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사이트/배포/DB 상태 요약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9768" y="129844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72768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682496"/>
            <a:ext cx="9235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사이트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38528"/>
            <a:ext cx="9235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246120" y="1572768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55848" y="1682496"/>
            <a:ext cx="9235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완료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55848" y="1938528"/>
            <a:ext cx="9235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4572000" y="1572768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81728" y="1682496"/>
            <a:ext cx="9235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중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81728" y="1938528"/>
            <a:ext cx="9235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5897880" y="1572768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EE2E2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07608" y="1682496"/>
            <a:ext cx="9235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07608" y="1938528"/>
            <a:ext cx="9235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1920240" y="2670048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920240" y="2670048"/>
            <a:ext cx="5212080" cy="46863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993392" y="27432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296412" y="27432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4599432" y="27432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5902452" y="27432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1920240" y="313867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993392" y="321183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3296412" y="321183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4599432" y="321183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가로형 A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5902452" y="321183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920240" y="360730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93392" y="36804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3296412" y="36804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/sw_006/mirae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599432" y="36804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세로형 B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5902452" y="36804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920240" y="407593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993392" y="414909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caremed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3296412" y="414909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/sw_006/caremed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4599432" y="414909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가로형 C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5902452" y="414909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1920240" y="4773168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029968" y="4882896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작업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029968" y="5138928"/>
            <a:ext cx="21579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사이트 만들기 / DB 동기화 / 배포 로그 확인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4709160" y="495604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709160" y="4997196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사이트 만들기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ADM-001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220" dirty="0"/>
          </a:p>
        </p:txBody>
      </p:sp>
      <p:sp>
        <p:nvSpPr>
          <p:cNvPr id="69" name="Text 67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사이트 생성 현황과 배포 상태를 한눈에 확인한다.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73" name="Text 71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카드, 최근 사이트, 빠른 작업, 배포 오류 요약.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사이트 만들기 → SITE-001, 사이트 행 클릭 → 상세 관리.</a:t>
            </a:r>
            <a:endParaRPr lang="en-US" sz="760" dirty="0"/>
          </a:p>
        </p:txBody>
      </p:sp>
      <p:sp>
        <p:nvSpPr>
          <p:cNvPr id="77" name="Shape 75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79" name="Text 77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site·deployment·generation_job</a:t>
            </a:r>
          </a:p>
          <a:p>
            <a:r>
              <a:rPr sz="850"/>
              <a:t>SELECT</a:t>
            </a:r>
          </a:p>
        </p:txBody>
      </p:sp>
      <p:sp>
        <p:nvSpPr>
          <p:cNvPr id="80" name="Shape 78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82" name="Text 80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deployment, generation_job, audit_log</a:t>
            </a:r>
            <a:endParaRPr lang="en-US" sz="760" dirty="0"/>
          </a:p>
        </p:txBody>
      </p:sp>
      <p:sp>
        <p:nvSpPr>
          <p:cNvPr id="83" name="Shape 81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ROLE_ADMIN 접근. 데이터는 site_id 기준 필터링.</a:t>
            </a:r>
            <a:endParaRPr lang="en-US" sz="760" dirty="0"/>
          </a:p>
        </p:txBody>
      </p:sp>
      <p:sp>
        <p:nvSpPr>
          <p:cNvPr id="86" name="Shape 84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8" name="Text 86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대시보드는 신규 생성 프로세스의 시작점이다.</a:t>
            </a:r>
            <a:endParaRPr lang="en-US" sz="730" dirty="0"/>
          </a:p>
        </p:txBody>
      </p:sp>
      <p:sp>
        <p:nvSpPr>
          <p:cNvPr id="89" name="Text 87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06/30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SITE-001 사이트 생성 목록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신규 사이트 생성 시작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52704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검색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75564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1680" y="1833372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806440" y="175564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06440" y="1796796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사이트 생성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2350008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920240" y="2350008"/>
            <a:ext cx="52120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993392" y="24231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296412" y="24231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사이트명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4599432" y="24231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902452" y="242316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920240" y="289864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93392" y="29718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3296412" y="29718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Highcon Construction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599432" y="29718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902452" y="297180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920240" y="344728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993392" y="352044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3296412" y="352044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미래솔루션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4599432" y="352044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/sw_006/mirae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902452" y="352044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920240" y="399592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993392" y="406908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caremed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3296412" y="406908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케어메드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599432" y="406908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/sw_006/caremed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902452" y="406908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920240" y="4544568"/>
            <a:ext cx="521208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993392" y="461772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samwoo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3296412" y="461772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삼우테크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4599432" y="461772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/sw_006/samwoo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5902452" y="4617720"/>
            <a:ext cx="12115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SITE-001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목록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생성된 사이트 목록을 확인하고 신규 생성 작업을 시작한다.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검색, 상태 필터, 신규 생성, 상세 관리 진입.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사이트 생성 → SITE-002. 검색/필터 변경 → 목록 재조회.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site</a:t>
            </a:r>
          </a:p>
          <a:p>
            <a:r>
              <a:rPr sz="850"/>
              <a:t>SELECT / INSERT</a:t>
            </a:r>
          </a:p>
        </p:txBody>
      </p:sp>
      <p:sp>
        <p:nvSpPr>
          <p:cNvPr id="73" name="Shape 71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site_status, generation_job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ROLE_ADMIN. 동일 company_slug 중복 생성 불가.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사용자는 이 화면에 접근 불가.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07/30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SITE-002 업체 정보 입력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업체명을 소문자 영문으로 입력하여 폴더명 생성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&gt; 업체 정보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435608"/>
            <a:ext cx="5212080" cy="384048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545336"/>
            <a:ext cx="4992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업체정보  →  2 템플릿  →  3 메뉴  →  4 푸터/메인  →  5 생성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0312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업체명(소문자 영문) *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235000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94560" y="2427732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663440" y="2121408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35000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54880" y="242773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Highcon Construction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2103120" y="28529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03120" y="308152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94560" y="3159252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건설/시공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4663440" y="2852928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담당자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08152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54880" y="31592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2103120" y="3675888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예정 경로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103120" y="3950208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212848" y="4059936"/>
            <a:ext cx="4535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/sw_006/hicon/index.html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12848" y="4315968"/>
            <a:ext cx="453542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 폴더 하위에 모든 HTML/CSS/이미지/data 파일 생성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440680" y="51389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40680" y="5180076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다음: 템플릿 선택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SITE-002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 정보 입력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slug와 기본 사이트 정보를 등록한다.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company_slug, 사이트명, 업종, 담당자, 메모 입력.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클릭 → site 테이블에서 slug 중복 SELECT → 통과 시 INSERT → SITE-003 이동.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site</a:t>
            </a:r>
          </a:p>
          <a:p>
            <a:r>
              <a:rPr sz="850"/>
              <a:t>SELECT(company_slug) / INSERT</a:t>
            </a:r>
          </a:p>
        </p:txBody>
      </p:sp>
      <p:sp>
        <p:nvSpPr>
          <p:cNvPr id="62" name="Shape 60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site(company_slug, name, status), audit_log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company_slug 필수, 영문소문자/숫자/하이픈, 중복 불가.</a:t>
            </a:r>
            <a:endParaRPr lang="en-US" sz="760" dirty="0"/>
          </a:p>
        </p:txBody>
      </p:sp>
      <p:sp>
        <p:nvSpPr>
          <p:cNvPr id="68" name="Shape 66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생성 경로는 /sw_006/{company_slug}/ 로 고정.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08/30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SITE-003 템플릿 선택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기준 가로/세로 템플릿 선택, 헤더/푸터 필수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&gt; 템플릿 선택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011680" y="1664208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21408" y="1773936"/>
            <a:ext cx="13350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가로형 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21408" y="2029968"/>
            <a:ext cx="1335024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선택됨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2176272" y="2121408"/>
            <a:ext cx="1225296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176272" y="2121408"/>
            <a:ext cx="1225296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794760" y="1664208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904488" y="1773936"/>
            <a:ext cx="13350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세로형 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04488" y="2029968"/>
            <a:ext cx="1335024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959352" y="2121408"/>
            <a:ext cx="1225296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959352" y="2121408"/>
            <a:ext cx="3200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577840" y="1664208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87568" y="1773936"/>
            <a:ext cx="13350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가로형 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87568" y="2029968"/>
            <a:ext cx="1335024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5742432" y="2121408"/>
            <a:ext cx="1225296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742432" y="2121408"/>
            <a:ext cx="1225296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011680" y="4178808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121408" y="4288536"/>
            <a:ext cx="4901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규칙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21408" y="4544568"/>
            <a:ext cx="490118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템플릿은 Header와 Footer가 반드시 존재하며, 중메뉴/소메뉴/푸터 항목 데이터와 연결됩니다.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852160" y="51389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852160" y="5180076"/>
            <a:ext cx="1143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적용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SITE-003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선택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홈페이지 body 레이아웃을 선택하고 공통 Header/Footer 포함 규칙을 확정한다.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가로형/세로형 템플릿, 미리보기, 적용 버튼.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카드 선택 → preview 갱신. 적용 → template_id 저장.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template SELECT</a:t>
            </a:r>
          </a:p>
          <a:p>
            <a:r>
              <a:rPr sz="850"/>
              <a:t>site_template UPSERT</a:t>
            </a:r>
          </a:p>
        </p:txBody>
      </p:sp>
      <p:sp>
        <p:nvSpPr>
          <p:cNvPr id="62" name="Shape 60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template, site_template, site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1개 필수. Header/Footer 포함 여부 변경 불가.</a:t>
            </a:r>
            <a:endParaRPr lang="en-US" sz="760" dirty="0"/>
          </a:p>
        </p:txBody>
      </p:sp>
      <p:sp>
        <p:nvSpPr>
          <p:cNvPr id="68" name="Shape 66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가로/세로는 body 콘텐츠 영역 기준이다.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09/30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MENU-001 중메뉴 등록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헤더에 나열될 1Depth 메뉴 구성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29768" y="206654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 &gt; 중메뉴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64208"/>
            <a:ext cx="5166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20240" y="1664208"/>
            <a:ext cx="51663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9339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28498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중메뉴명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457657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586816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1920240" y="2066544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993392" y="2139696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284982" y="2139696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4576572" y="2139696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868162" y="2139696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920240" y="2468880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93392" y="2542032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3284982" y="2542032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576572" y="2542032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868162" y="2542032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920240" y="2871216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993392" y="2944368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3284982" y="2944368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고객센터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4576572" y="2944368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868162" y="2944368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920240" y="3273552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993392" y="3346704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3284982" y="3346704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576572" y="3346704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868162" y="3346704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210312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중메뉴명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03120" y="427024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194560" y="43479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438912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정렬순서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89120" y="427024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480560" y="434797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5760720" y="42702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760720" y="4311396"/>
            <a:ext cx="1234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중메뉴 추가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MENU-001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등록</a:t>
            </a:r>
            <a:endParaRPr lang="en-US" sz="1220" dirty="0"/>
          </a:p>
        </p:txBody>
      </p:sp>
      <p:sp>
        <p:nvSpPr>
          <p:cNvPr id="65" name="Text 63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Header에 표시될 중메뉴를 등록한다.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중메뉴명, 노출순서, 사용여부, URL 타입 설정.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추가 → row 생성. 저장 → menu depth=1 저장.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menu</a:t>
            </a:r>
          </a:p>
          <a:p>
            <a:r>
              <a:rPr sz="850"/>
              <a:t>INSERT / UPDATE</a:t>
            </a:r>
          </a:p>
        </p:txBody>
      </p:sp>
      <p:sp>
        <p:nvSpPr>
          <p:cNvPr id="76" name="Shape 74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menu(id, site_id, parent_id, depth, name, sort_order)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중메뉴명 필수, 중복명 경고, 정렬순서 숫자.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4" name="Text 82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Header는 중메뉴 배열 기준으로 자동 렌더링한다.</a:t>
            </a:r>
            <a:endParaRPr lang="en-US" sz="730" dirty="0"/>
          </a:p>
        </p:txBody>
      </p:sp>
      <p:sp>
        <p:nvSpPr>
          <p:cNvPr id="85" name="Text 8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10/30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MENU-002 소메뉴 등록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하위 2Depth 메뉴 구성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29768" y="206654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 &gt; 소메뉴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18488"/>
            <a:ext cx="1645920" cy="3017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72821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84248"/>
            <a:ext cx="1426464" cy="2542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고객센터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840480" y="1618488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840480" y="1618488"/>
            <a:ext cx="3429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913632" y="16916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소메뉴명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5056632" y="16916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199632" y="16916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3840480" y="2075688"/>
            <a:ext cx="34290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913632" y="21488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인사말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056632" y="21488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199632" y="21488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840480" y="2532888"/>
            <a:ext cx="34290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913632" y="26060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조직도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5056632" y="26060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199632" y="26060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840480" y="2990088"/>
            <a:ext cx="34290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913632" y="30632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오시는길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5056632" y="30632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6199632" y="3063240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384048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소메뉴명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0" y="40873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931920" y="416509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연혁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5394960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페이지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40873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0" y="41650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5989320" y="459028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989320" y="4631436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소메뉴 저장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MENU-002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소메뉴 등록</a:t>
            </a:r>
            <a:endParaRPr lang="en-US" sz="1220" dirty="0"/>
          </a:p>
        </p:txBody>
      </p:sp>
      <p:sp>
        <p:nvSpPr>
          <p:cNvPr id="59" name="Text 57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중메뉴의 하위 소메뉴를 등록하여 마우스 오버 메뉴로 제공한다.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중메뉴 선택, 소메뉴명, 연결 페이지, 정렬.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선택 → 소메뉴 목록 조회. 저장 → depth=2 저장.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menu</a:t>
            </a:r>
          </a:p>
          <a:p>
            <a:r>
              <a:rPr sz="850"/>
              <a:t>SELECT(parent_id) / INSERT</a:t>
            </a:r>
          </a:p>
        </p:txBody>
      </p:sp>
      <p:sp>
        <p:nvSpPr>
          <p:cNvPr id="70" name="Shape 68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menu(parent_id, depth=2), page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중메뉴 필수, 소메뉴명 필수, sort_order 숫자.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회사소개 &gt; 인사말, 조직도, 오시는길.</a:t>
            </a:r>
            <a:endParaRPr lang="en-US" sz="730" dirty="0"/>
          </a:p>
        </p:txBody>
      </p:sp>
      <p:sp>
        <p:nvSpPr>
          <p:cNvPr id="79" name="Text 77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11/30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MENU-003 헤더 미리보기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Mouse Over 시 소메뉴 노출 확인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29768" y="206654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미리보기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64208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20240" y="1664208"/>
            <a:ext cx="5257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148840" y="1819656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1819656"/>
            <a:ext cx="777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343400" y="1819656"/>
            <a:ext cx="777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49240" y="1819656"/>
            <a:ext cx="777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고객센터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18688" y="2167128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364992" y="2304288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인사말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364992" y="2560320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조직도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364992" y="2816352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오시는길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920240" y="2258568"/>
            <a:ext cx="52578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774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신뢰로 짓는 건설 파트너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377440" y="358444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377440" y="3625596"/>
            <a:ext cx="822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문의하기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MENU-003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미리보기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입력한 중/소메뉴가 Header에 의도대로 노출되는지 확인한다.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렌더링, Hover 메뉴, PC/모바일 확인.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Hover → 소메뉴 드롭다운. 메뉴 클릭 → page route 이동.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SELECT(site_id, depth, sort_order)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page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최소 1개, 소메뉴 없는 메뉴도 허용.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 구현 시 onMouseEnter/onFocus 접근성도 반영.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12/30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FOOT-001 푸터 정보 설정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회사정보/정책/저작권/SITE BY 입력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29768" y="2450592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주식회사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80136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1680" y="187909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Highcon Construction Co.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663440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180136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54880" y="1879092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92024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사업자등록번호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253288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11680" y="261061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123-45-67890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663440" y="23042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253288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54880" y="2610612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info@hicon.co.kr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1920240" y="3035808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20240" y="3264408"/>
            <a:ext cx="4663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011680" y="3342132"/>
            <a:ext cx="4480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강남구 테헤란로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1920240" y="3904488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029968" y="4014216"/>
            <a:ext cx="4992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미리보기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029968" y="4270248"/>
            <a:ext cx="49926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회사소개 | 개인정보취급방침 | 사이트맵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주식회사 Highcon Construction Co. | 대표자 홍길동 | 사업자등록번호 123-45-67890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2019 Highcon Construction Co. All Rights Reserved. SITE BY THREEWAY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FOOT-001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정보 설정</a:t>
            </a:r>
            <a:endParaRPr lang="en-US" sz="1220" dirty="0"/>
          </a:p>
        </p:txBody>
      </p:sp>
      <p:sp>
        <p:nvSpPr>
          <p:cNvPr id="49" name="Text 47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푸터에 노출할 회사정보와 정책 링크를 등록한다.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회사소개, 개인정보취급방침, 사이트맵, 주식회사, 대표자, 사업자번호, EMAIL, 주소, 연락처, Copyright, SITE BY.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클릭 → footer 테이블 upsert → 전체 페이지 Footer 반영.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footer UPSERT</a:t>
            </a:r>
          </a:p>
          <a:p>
            <a:r>
              <a:rPr sz="850"/>
              <a:t>footer_link CRUD</a:t>
            </a:r>
          </a:p>
        </p:txBody>
      </p:sp>
      <p:sp>
        <p:nvSpPr>
          <p:cNvPr id="60" name="Shape 58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footer, footer_link, site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대표자/사업자등록번호/연락처 형식 검사, 필수값 설정 가능.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페이지 하단에 동일하게 포함한다.</a:t>
            </a:r>
            <a:endParaRPr lang="en-US" sz="730" dirty="0"/>
          </a:p>
        </p:txBody>
      </p:sp>
      <p:sp>
        <p:nvSpPr>
          <p:cNvPr id="69" name="Text 67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13/30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MAIN-001 메인 레이아웃 설정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공지/실적/자격증 등 메인 노출 영역 구성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29768" y="28346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레이아웃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72768"/>
            <a:ext cx="1508760" cy="3291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목록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38528"/>
            <a:ext cx="1289304" cy="281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비주얼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실적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고객문의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657600" y="1572768"/>
            <a:ext cx="3383280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63440" y="1819656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비주얼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0" y="2395728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40680" y="2395728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0" y="3264408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440680" y="3264408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069080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52160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실적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69080" y="353872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52160" y="353872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MAIN-001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레이아웃 설정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화면에 어떤 섹션을 어떤 순서로 노출할지 결정한다.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추가/삭제, 순서 변경, 노출여부, 레이아웃 타입 선택.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추가 → main_section 생성. 드래그 정렬 → sort_order 저장.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main_section</a:t>
            </a:r>
          </a:p>
          <a:p>
            <a:r>
              <a:rPr sz="850"/>
              <a:t>SELECT / INSERT / UPDATE / DELETE</a:t>
            </a:r>
          </a:p>
        </p:txBody>
      </p:sp>
      <p:sp>
        <p:nvSpPr>
          <p:cNvPr id="55" name="Shape 53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main_section, site, board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섹션 최소 1개, 중복 섹션 허용 정책 확인.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편집 가능 여부는 섹션별 권한으로 제어한다.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14/30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MAIN-002 메인 섹션 콘텐츠 설정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섹션별 문구/노출 데이터/이미지 매핑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29768" y="28346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콘텐츠 설정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72768"/>
            <a:ext cx="1828800" cy="356616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682496"/>
            <a:ext cx="16093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선택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38528"/>
            <a:ext cx="1609344" cy="3090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비주얼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실적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97764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제목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77640" y="1892808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069080" y="1970532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고객의 미래를 짓습니다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3977640" y="2395728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보조문구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77640" y="2624328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69080" y="2702052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기술력과 신뢰로 완성하는 건설 파트너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3977640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버튼명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77640" y="335584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069080" y="343357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문의하기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562356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게시판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23560" y="335584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715000" y="343357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최신 5건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852160" y="459028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52160" y="4631436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저장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MAIN-002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콘텐츠 설정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섹션에 노출될 문구, 게시판 데이터, 이미지를 설정한다.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문구, CTA, 게시판 연결, 실적/자격증 카드 입력.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 선택 → 속성 패널 표시. 저장 → main_section_data 저장.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main_section UPDATE</a:t>
            </a:r>
          </a:p>
          <a:p>
            <a:r>
              <a:rPr sz="850"/>
              <a:t>site main data SELECT</a:t>
            </a:r>
          </a:p>
        </p:txBody>
      </p:sp>
      <p:sp>
        <p:nvSpPr>
          <p:cNvPr id="59" name="Shape 57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main_section, main_content, asset, board_post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제목 필수, 연결 게시판 존재 여부 확인.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공지사항은 board_post 최신글을 자동 노출할 수 있다.</a:t>
            </a:r>
            <a:endParaRPr lang="en-US" sz="730" dirty="0"/>
          </a:p>
        </p:txBody>
      </p:sp>
      <p:sp>
        <p:nvSpPr>
          <p:cNvPr id="68" name="Text 66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15/30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ASSET-001 이미지 업로드/매핑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페이지별 대표 이미지와 공통 자산 등록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29768" y="321868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18488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240280" y="2121408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여기에 드래그하거나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선택 버튼 클릭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2642616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14600" y="2683764"/>
            <a:ext cx="1097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선택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1618488"/>
            <a:ext cx="10058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26280" y="245973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image_1.jpg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715000" y="1618488"/>
            <a:ext cx="100584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715000" y="245973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image_2.jpg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526280" y="2807208"/>
            <a:ext cx="10058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26280" y="364845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image_3.jpg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715000" y="2807208"/>
            <a:ext cx="100584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715000" y="364845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image_4.jpg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526280" y="3995928"/>
            <a:ext cx="10058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26280" y="483717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image_5.jpg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715000" y="3995928"/>
            <a:ext cx="100584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715000" y="4837176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image_6.jpg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ASSET-001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업로드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홈페이지에 사용할 이미지를 업로드하고 페이지/섹션에 매핑한다.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업로드, 이미지 목록, alt 텍스트, 사용 위치 지정.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→ Supabase Storage 저장 → asset row 생성.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Supabase Storage upload</a:t>
            </a:r>
          </a:p>
          <a:p>
            <a:r>
              <a:rPr sz="850"/>
              <a:t>asset INSERT / UPDATE</a:t>
            </a:r>
          </a:p>
        </p:txBody>
      </p:sp>
      <p:sp>
        <p:nvSpPr>
          <p:cNvPr id="58" name="Shape 56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asset(id, site_id, file_url, alt_text, usage_type)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PNG/JPG/WebP 허용, 10MB 이하, alt 텍스트 권장.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이미지는 Vercel 정적 파일 또는 Supabase Storage URL로 사용 가능.</a:t>
            </a:r>
            <a:endParaRPr lang="en-US" sz="730" dirty="0"/>
          </a:p>
        </p:txBody>
      </p:sp>
      <p:sp>
        <p:nvSpPr>
          <p:cNvPr id="67" name="Text 65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16/30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PAGE-001 정적 페이지 콘텐츠 관리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소메뉴 연결 페이지의 제목/본문/이미지 편집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29768" y="206654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페이지 편집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72768"/>
            <a:ext cx="1463040" cy="3474720"/>
          </a:xfrm>
          <a:prstGeom prst="roundRect">
            <a:avLst>
              <a:gd name="adj" fmla="val 5625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682496"/>
            <a:ext cx="12435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트리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38528"/>
            <a:ext cx="1243584" cy="2999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회사소개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인사말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조직도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오시는길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제품소개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고객센터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65760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제목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0" y="1892808"/>
            <a:ext cx="3383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49040" y="1970532"/>
            <a:ext cx="3200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인사말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3657600" y="2414016"/>
            <a:ext cx="548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0" y="2651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794760" y="2807208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고객과 함께 성장하는 기업이 되겠습니다.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최고의 품질과 안전을 바탕으로...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이미지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0" y="436168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749040" y="4439412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/assets/images/ceo.jpg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6217920" y="4361688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17920" y="4402836"/>
            <a:ext cx="777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PAGE-001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페이지 관리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인사말, 조직도, 오시는길 등 소메뉴 페이지 콘텐츠를 등록한다.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트리, 제목/본문 입력, 대표 이미지, SEO 기본값.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선택 → 콘텐츠 로드. 저장 → page_content upsert.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page</a:t>
            </a:r>
          </a:p>
          <a:p>
            <a:r>
              <a:rPr sz="850"/>
              <a:t>SELECT / UPDATE</a:t>
            </a:r>
          </a:p>
        </p:txBody>
      </p:sp>
      <p:sp>
        <p:nvSpPr>
          <p:cNvPr id="56" name="Shape 54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page, page_content, asset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필수, 본문 길이 제한, 이미지 파일 존재 확인.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페이지도 site_id와 menu_id를 기준으로 연결한다.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17/30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BOARD-001 공지사항 설정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게시판 구성 및 메인 노출 설정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29768" y="360273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설정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8013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1680" y="1879092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397764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노출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77640" y="18013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069080" y="1879092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/ 최신 5건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920240" y="2304288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권한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253288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11680" y="261061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+ 권한 사용자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389120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권한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89120" y="253288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80560" y="2610612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공개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920240" y="3172968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920240" y="3172968"/>
            <a:ext cx="502920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993392" y="324612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669792" y="324612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5346192" y="324612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920240" y="3569208"/>
            <a:ext cx="50292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993392" y="364236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오픈 안내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3669792" y="364236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346192" y="364236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920240" y="3965448"/>
            <a:ext cx="502920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993392" y="403860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휴무 공지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3669792" y="403860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user01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5346192" y="4038600"/>
            <a:ext cx="1584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989320" y="468172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989320" y="4722876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저장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BOARD-001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설정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게시판의 사용 여부, 작성 권한, 메인 노출을 설정한다.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사용여부, 메인노출, 상단고정, 작성권한, 목록 개수.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저장 → board_config 저장. 메인 노출 ON → main_section 연결.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board 설정 UPDATE</a:t>
            </a:r>
          </a:p>
          <a:p>
            <a:r>
              <a:rPr sz="850"/>
              <a:t>board_post SELECT</a:t>
            </a:r>
          </a:p>
        </p:txBody>
      </p:sp>
      <p:sp>
        <p:nvSpPr>
          <p:cNvPr id="69" name="Shape 67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board_config, board_post, role_permission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게시판명 필수, 목록 개수 1~20, 작성권한 확인.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사용자에게 권한 부여 시 로그인 후 공지 등록 가능.</a:t>
            </a:r>
            <a:endParaRPr lang="en-US" sz="730" dirty="0"/>
          </a:p>
        </p:txBody>
      </p:sp>
      <p:sp>
        <p:nvSpPr>
          <p:cNvPr id="78" name="Text 76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18/30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BOARD-002 게시판/자료실 설정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게시판과 자료실 첨부 정책 설정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29768" y="360273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게시판/자료실 설정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18488"/>
            <a:ext cx="2423160" cy="292608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728216"/>
            <a:ext cx="2203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게시판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1984248"/>
            <a:ext cx="2203704" cy="2450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댓글: 사용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비밀글: 미사용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카테고리: 자유/문의/후기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작성권한: 권한 사용자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4663440" y="1618488"/>
            <a:ext cx="2423160" cy="292608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73168" y="1728216"/>
            <a:ext cx="2203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1984248"/>
            <a:ext cx="2203704" cy="2450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첨부: PDF/HWP/XLSX/ZIP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최대용량: 20MB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다운로드: 전체 공개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작성권한: 권한 사용자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2834640" y="4864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34640" y="4905756"/>
            <a:ext cx="1371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설정 저장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4864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577840" y="4905756"/>
            <a:ext cx="1371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 설정 저장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BOARD-002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게시판/자료실 설정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게시판과 자료실의 카테고리, 댓글, 첨부파일 정책을 구성한다.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카테고리, 댓글, 비밀글, 첨부파일 확장자/용량, 다운로드 권한.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저장 → board_config upsert. 자료실 업로드 → asset/file 저장.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board 설정 UPDATE</a:t>
            </a:r>
          </a:p>
          <a:p>
            <a:r>
              <a:rPr sz="850"/>
              <a:t>Storage upload</a:t>
            </a:r>
          </a:p>
        </p:txBody>
      </p:sp>
      <p:sp>
        <p:nvSpPr>
          <p:cNvPr id="52" name="Shape 50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board_category, board_file, asset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 첨부 20MB 이하, 허용 확장자 검사.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공지사항/게시판/자료실은 같은 board_post 모델을 사용하되 type으로 구분.</a:t>
            </a:r>
            <a:endParaRPr lang="en-US" sz="730" dirty="0"/>
          </a:p>
        </p:txBody>
      </p:sp>
      <p:sp>
        <p:nvSpPr>
          <p:cNvPr id="61" name="Text 59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19/30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ROLE-001 사용자 권한 부여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사용자는 사이트 생성 불가, 콘텐츠 관리만 가능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9768" y="398678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권한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64208"/>
            <a:ext cx="5166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20240" y="1664208"/>
            <a:ext cx="51663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9339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28498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457657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5868162" y="173736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1920240" y="216712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993392" y="224028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user01@hicon.co.kr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284982" y="224028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4576572" y="224028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868162" y="224028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920240" y="267004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93392" y="274320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staff@hicon.co.kr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3284982" y="274320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576572" y="274320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868162" y="274320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920240" y="317296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993392" y="324612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viewer@hicon.co.kr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3284982" y="324612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4576572" y="324612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868162" y="3246120"/>
            <a:ext cx="120015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920240" y="4087368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초대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20240" y="431596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011680" y="439369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newuser@hicon.co.kr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754880" y="431596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754880" y="4357116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초대 보내기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4379976"/>
            <a:ext cx="1005840" cy="228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080760" y="4402836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SITE_CREATE 권한 없음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ROLE-001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권한 관리</a:t>
            </a:r>
            <a:endParaRPr lang="en-US" sz="1220" dirty="0"/>
          </a:p>
        </p:txBody>
      </p:sp>
      <p:sp>
        <p:nvSpPr>
          <p:cNvPr id="59" name="Text 57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공지사항/게시판/자료실 입력 권한을 부여한다.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초대, 역할 부여, 게시판별 쓰기/읽기 권한.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초대 → Supabase Auth 초대 처리. 권한 저장 → site_user·role_permission UPSERT.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Supabase Auth 초대</a:t>
            </a:r>
          </a:p>
          <a:p>
            <a:r>
              <a:rPr sz="850"/>
              <a:t>role_permission UPSERT</a:t>
            </a:r>
          </a:p>
        </p:txBody>
      </p:sp>
      <p:sp>
        <p:nvSpPr>
          <p:cNvPr id="70" name="Shape 68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role, role_permission, site_user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ROLE_SITE_EDITOR만 허용. SITE_CREATE 권한 부여 금지.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요구사항: 사용자는 사이트 생성 권한이 없다.</a:t>
            </a:r>
            <a:endParaRPr lang="en-US" sz="730" dirty="0"/>
          </a:p>
        </p:txBody>
      </p:sp>
      <p:sp>
        <p:nvSpPr>
          <p:cNvPr id="79" name="Text 77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20/30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USER-001 사용자 CMS 로그인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사용자 전용 콘텐츠 관리 진입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9768" y="398678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CMS 로그인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926080" y="1938528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337560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CMS 로그인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7560" y="2551176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부여된 게시판/자료실만 입력 가능합니다.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3756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317296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29000" y="325069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user01@hicon.co.kr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3337560" y="3675888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37560" y="390448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29000" y="398221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********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337560" y="4453128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337560" y="4494276"/>
            <a:ext cx="2468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USER-001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CMS 로그인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권한을 받은 사용자가 콘텐츠 관리 페이지에 로그인한다.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이메일/비밀번호 로그인, 접근 가능한 게시판만 표시.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성공 → USER-002. 권한 없음 → 접근 거부.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Supabase Auth 로그인</a:t>
            </a:r>
          </a:p>
          <a:p>
            <a:r>
              <a:rPr sz="850"/>
              <a:t>권한 SELECT</a:t>
            </a:r>
          </a:p>
        </p:txBody>
      </p:sp>
      <p:sp>
        <p:nvSpPr>
          <p:cNvPr id="53" name="Shape 51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site_user, role_permission, auth_session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ROLE_SITE_EDITOR 또는 ROLE_CONTENT_WRITER. SITE_CREATE 불가.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로그인과 화면/라우트/Supabase 처리를 분리한다.</a:t>
            </a:r>
            <a:endParaRPr lang="en-US" sz="730" dirty="0"/>
          </a:p>
        </p:txBody>
      </p:sp>
      <p:sp>
        <p:nvSpPr>
          <p:cNvPr id="62" name="Text 60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21/30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USER-002 사용자 게시글 등록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공지사항/게시판/자료실 콘텐츠 입력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29768" y="360273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게시글 등록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5727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801368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1680" y="187909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3657600" y="1572768"/>
            <a:ext cx="3291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0" y="1801368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49040" y="1879092"/>
            <a:ext cx="3108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하계 휴무 안내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920240" y="2350008"/>
            <a:ext cx="640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2578608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5740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하계 휴무 기간을 안내드립니다.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2026.08.01 ~ 2026.08.05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첨부파일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20240" y="436168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011680" y="4439412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notice.pdf (1.2MB)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937760" y="4407408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37760" y="4448556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임시저장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97880" y="44074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897880" y="4448556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USER-002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콘텐츠 등록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사용자가 허용된 게시판에 게시글과 첨부파일을 등록한다.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제목, 본문, 첨부파일, 임시저장, 게시요청.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임시저장 → DRAFT, 게시 → PUBLISHED 또는 승인대기.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board_post INSERT / UPDATE</a:t>
            </a:r>
          </a:p>
          <a:p>
            <a:r>
              <a:rPr sz="850"/>
              <a:t>Storage upload</a:t>
            </a:r>
          </a:p>
        </p:txBody>
      </p:sp>
      <p:sp>
        <p:nvSpPr>
          <p:cNvPr id="58" name="Shape 56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board_post, board_file, user, audit_log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권한 확인, 제목 필수, 첨부파일 정책 준수.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생성/배포 메뉴는 사용자 CMS에 표시하지 않는다.</a:t>
            </a:r>
            <a:endParaRPr lang="en-US" sz="730" dirty="0"/>
          </a:p>
        </p:txBody>
      </p:sp>
      <p:sp>
        <p:nvSpPr>
          <p:cNvPr id="67" name="Text 65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22/30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PREV-001 사이트 미리보기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전 Header/Footer/Main/메뉴 동작 확인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미리보기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27048"/>
            <a:ext cx="411480" cy="21031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20240" y="1549908"/>
            <a:ext cx="411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23160" y="1527048"/>
            <a:ext cx="594360" cy="21031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423160" y="1549908"/>
            <a:ext cx="5943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20240" y="1892808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920240" y="189280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103120" y="2048256"/>
            <a:ext cx="30175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   회사소개   제품소개   고객센터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920240" y="2304288"/>
            <a:ext cx="411480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377440" y="2825496"/>
            <a:ext cx="2560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고객의 미래를 짓습니다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20240" y="4773168"/>
            <a:ext cx="41148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48840" y="5001768"/>
            <a:ext cx="3657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2019 Highcon Construction Co. All Rights Reserved.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6263640" y="1892808"/>
            <a:ext cx="1005840" cy="3474720"/>
          </a:xfrm>
          <a:prstGeom prst="roundRect">
            <a:avLst>
              <a:gd name="adj" fmla="val 8182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73368" y="2002536"/>
            <a:ext cx="7863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73368" y="2258568"/>
            <a:ext cx="786384" cy="2999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헤더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푸터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메뉴 Hover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이미지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메인 섹션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PREV-001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미리보기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생성 전 PC/모바일 화면과 메뉴/푸터 반영 상태를 검토한다.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PC/Tablet/Mobile 전환, Header Hover, Main 섹션, Footer 확인.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 → 현재 설정 렌더링. 생성 요청 → GEN-001 이동.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site·menu·footer·main_section·asset 직접 SELECT 후 미리보기 렌더링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menu, footer, main_section, asset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항목 누락 시 생성 요청 비활성화.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미리보기는 파일 생성 전 DB 데이터 기반으로 렌더링한다.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23/30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GEN-001 사이트 생성 작업 모니터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폴더/파일/DB/배포 준비 상태 확인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작업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709928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진행률 72%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2121408"/>
            <a:ext cx="5029200" cy="164592"/>
          </a:xfrm>
          <a:prstGeom prst="roundRect">
            <a:avLst>
              <a:gd name="adj" fmla="val 44444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920240" y="2121408"/>
            <a:ext cx="3611880" cy="164592"/>
          </a:xfrm>
          <a:prstGeom prst="roundRect">
            <a:avLst>
              <a:gd name="adj" fmla="val 4444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103120" y="257860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/sw_006/hicon 폴더 생성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03120" y="2962656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index.html 생성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03120" y="3346704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header/footer include 반영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03120" y="37307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Supabase site/menu/footer 저장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03120" y="4114800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GitHub Commit 준비 중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0" y="5093208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20640" y="5134356"/>
            <a:ext cx="731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89320" y="509320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89320" y="5134356"/>
            <a:ext cx="1097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단계로 이동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GEN-001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 작업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사이트 생성 Job 상태를 실시간으로 확인한다.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진행률, 단계별 로그, 오류 재시도, 취소.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시작 → generation_job INSERT → 파일 생성 작업 실행 → 생성 결과 DB 기록 → GitHub 단계.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generation_job</a:t>
            </a:r>
          </a:p>
          <a:p>
            <a:r>
              <a:rPr sz="850"/>
              <a:t>INSERT / SELECT</a:t>
            </a:r>
          </a:p>
        </p:txBody>
      </p:sp>
      <p:sp>
        <p:nvSpPr>
          <p:cNvPr id="54" name="Shape 52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generation_job, generated_file, audit_log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설정 완료, 파일 경로 중복 확인.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대기/진행/성공/실패 상태값을 명확히 관리한다.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24/30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FILE-001 파일 생성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기준 폴더와 index.html 생성 규칙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29768" y="475488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구조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18488"/>
            <a:ext cx="3017520" cy="365760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48840" y="1892808"/>
            <a:ext cx="26517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sw_006/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hicon/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├─ index.html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├─ pages/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│  ├─ greeting.html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│  ├─ organization.html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│  └─ location.html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├─ assets/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│  ├─ images/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│  └─ css/style.css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└─ data/site.json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66360" y="1618488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76088" y="1728216"/>
            <a:ext cx="16093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기준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76088" y="1984248"/>
            <a:ext cx="1609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hicon → /sw_006/hicon/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5166360" y="2761488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76088" y="2871216"/>
            <a:ext cx="16093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파일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76088" y="3127248"/>
            <a:ext cx="1609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index.html, css, images, site.json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5166360" y="3904488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76088" y="4014216"/>
            <a:ext cx="16093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76088" y="4270248"/>
            <a:ext cx="1609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폴더명은 lowercase slug만 허용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FILE-001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생성 구조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company_slug 하위에 생성되는 파일 구조를 개발 기준으로 정의한다.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sw_006/{slug}/index.html, assets, css, js, data 구성.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생성 완료 → generated_file 기록 → GitHub Commit 대상 포함.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generated_file</a:t>
            </a:r>
          </a:p>
          <a:p>
            <a:r>
              <a:rPr sz="850"/>
              <a:t>INSERT / SELECT</a:t>
            </a:r>
          </a:p>
        </p:txBody>
      </p:sp>
      <p:sp>
        <p:nvSpPr>
          <p:cNvPr id="53" name="Shape 51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generated_file, site, asset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traversal 방지, slug 기반 상대경로만 허용.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예시: sw_006/hicon/index.html 하위 모든 파일 생성.</a:t>
            </a:r>
            <a:endParaRPr lang="en-US" sz="730" dirty="0"/>
          </a:p>
        </p:txBody>
      </p:sp>
      <p:sp>
        <p:nvSpPr>
          <p:cNvPr id="62" name="Text 60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25/30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DB-001 Supabase 테이블 생성/연동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사이트별 데이터 저장 및 CRUD 기반 구성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9768" y="4370832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DB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64208"/>
            <a:ext cx="51663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20240" y="1664208"/>
            <a:ext cx="5166360" cy="418011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93392" y="1737360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715512" y="1737360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5437632" y="1737360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1920240" y="2082219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993392" y="2155371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3715512" y="2155371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 사이트 기본정보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5437632" y="2155371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1920240" y="2500231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993392" y="2573383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715512" y="2573383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중/소메뉴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5437632" y="2573383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1920240" y="2918242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993392" y="2991394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715512" y="2991394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정보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5437632" y="2991394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920240" y="3336254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993392" y="3409406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main_section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3715512" y="3409406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노출 섹션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437632" y="3409406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920240" y="3754265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993392" y="3827417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board_post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3715512" y="3827417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데이터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5437632" y="3827417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920240" y="4172277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993392" y="4245429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3715512" y="4245429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이미지/첨부파일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5437632" y="4245429"/>
            <a:ext cx="1630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5760720" y="486460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760720" y="4905756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동기화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DB-001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테이블 관리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사이트의 메뉴/푸터/게시판/이미지 데이터를 Supabase에 저장한다.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생성, 스키마 동기화, site_id 기준 관계 설정.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배포 시 SQL Migration 적용. 운영 화면에서는 테이블 존재·컬럼·RLS 상태만 확인.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SQL Migration</a:t>
            </a:r>
          </a:p>
          <a:p>
            <a:r>
              <a:rPr sz="850"/>
              <a:t>스키마·RLS 상태 조회</a:t>
            </a:r>
          </a:p>
        </p:txBody>
      </p:sp>
      <p:sp>
        <p:nvSpPr>
          <p:cNvPr id="73" name="Shape 71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menu, footer, main_section, asset, board, board_post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 상태 확인. 실제 스키마 변경은 배포 Migration으로 제한. site_id FK와 RLS 확인.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Supabase는 CRUD Supabase 처리와 Storage를 함께 사용한다.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26/30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CRUD-001 데이터 CRUD 관리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기반 게시글/페이지/자산 데이터 관리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9768" y="4370832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데이터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572768"/>
            <a:ext cx="1005840" cy="2286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20240" y="159562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site_id: hicon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63240" y="1572768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063240" y="1595628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749040" y="1572768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49040" y="1595628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434840" y="1572768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434840" y="1595628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120640" y="1572768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20640" y="1595628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806440" y="1572768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806440" y="1595628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920240" y="2075688"/>
            <a:ext cx="51663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920240" y="2075688"/>
            <a:ext cx="5166360" cy="62865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993392" y="21488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026664" y="21488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4059936" y="21488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5093208" y="21488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126480" y="21488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920240" y="270433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993392" y="27774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3026664" y="27774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오픈 안내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4059936" y="27774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5093208" y="27774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6126480" y="27774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수정/삭제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920240" y="333298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993392" y="34061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3026664" y="34061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등록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4059936" y="34061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user01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5093208" y="34061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126480" y="340614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수정/삭제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1920240" y="3961638"/>
            <a:ext cx="51663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993392" y="40347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3026664" y="40347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샘플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4059936" y="40347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5093208" y="40347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6126480" y="4034790"/>
            <a:ext cx="9418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수정/삭제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6172200" y="481888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172200" y="4860036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등록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CRUD-001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CRUD 관리</a:t>
            </a:r>
            <a:endParaRPr lang="en-US" sz="1220" dirty="0"/>
          </a:p>
        </p:txBody>
      </p:sp>
      <p:sp>
        <p:nvSpPr>
          <p:cNvPr id="70" name="Text 68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Supabase에 저장된 사이트 데이터를 조회/등록/수정/삭제한다.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site_id 필터, 테이블 선택, CRUD, 검색, 페이지네이션.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등록/수정/삭제 → Supabase row 변경 → audit_log 기록.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Client SELECT / INSERT / UPDATE / DELETE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83" name="Text 81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menu, footer, board_post, asset, audit_log</a:t>
            </a:r>
            <a:endParaRPr lang="en-US" sz="760" dirty="0"/>
          </a:p>
        </p:txBody>
      </p:sp>
      <p:sp>
        <p:nvSpPr>
          <p:cNvPr id="84" name="Shape 82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86" name="Text 84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시 참조 데이터 확인, 권한 체크, 필수 컬럼 검사.</a:t>
            </a:r>
            <a:endParaRPr lang="en-US" sz="760" dirty="0"/>
          </a:p>
        </p:txBody>
      </p:sp>
      <p:sp>
        <p:nvSpPr>
          <p:cNvPr id="87" name="Shape 85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데이터 변경은 Git 배포와 별도 처리 가능.</a:t>
            </a:r>
            <a:endParaRPr lang="en-US" sz="730" dirty="0"/>
          </a:p>
        </p:txBody>
      </p:sp>
      <p:sp>
        <p:nvSpPr>
          <p:cNvPr id="90" name="Text 88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27/30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GIT-001 GitHub 연동/Push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파일을 GitHub 저장소로 저장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29768" y="475488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801368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1680" y="1879092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shim1210-hub/nexdataforge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75488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801368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46320" y="187909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920240" y="2304288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253288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11680" y="2610612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feat: generate hicon website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1920240" y="3127248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029968" y="3236976"/>
            <a:ext cx="4901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파일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029968" y="3493008"/>
            <a:ext cx="49011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/sw_006/hicon/index.html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/sw_006/hicon/assets/css/style.css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/sw_006/hicon/data/site.json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5669280" y="468172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69280" y="4722876"/>
            <a:ext cx="1325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 실행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GIT-001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연동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생성된 업체 사이트 파일을 GitHub 저장소에 커밋/푸시한다.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Branch, Commit 메시지, 변경 파일 목록, Push 실행.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실행 → git status → commit → push → deployment trigger.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GitHub Actions 또는</a:t>
            </a:r>
          </a:p>
          <a:p>
            <a:r>
              <a:rPr sz="850"/>
              <a:t>서버 전용 Push 작업</a:t>
            </a:r>
          </a:p>
        </p:txBody>
      </p:sp>
      <p:sp>
        <p:nvSpPr>
          <p:cNvPr id="56" name="Shape 54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generated_file, audit_log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토큰 유효성, branch 권한, 변경 파일 존재 확인.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Next.js/Vercel 배포는 GitHub push를 기준으로 자동 트리거 가능.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28/30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DEP-001 Vercel 배포 프로세스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 이후 Vercel 웹호스팅 배포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29768" y="475488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755648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29968" y="1865376"/>
            <a:ext cx="877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2121408"/>
            <a:ext cx="8778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017520" y="2148840"/>
            <a:ext cx="18288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200400" y="1755648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10128" y="1865376"/>
            <a:ext cx="877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10128" y="2121408"/>
            <a:ext cx="8778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Build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297680" y="2148840"/>
            <a:ext cx="18288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480560" y="1755648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EEF2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90288" y="1865376"/>
            <a:ext cx="877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90288" y="2121408"/>
            <a:ext cx="8778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5577840" y="2148840"/>
            <a:ext cx="18288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760720" y="1755648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DCFCE7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70448" y="1865376"/>
            <a:ext cx="877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2121408"/>
            <a:ext cx="8778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1920240" y="3035808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029968" y="3145536"/>
            <a:ext cx="4901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결과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029968" y="3401568"/>
            <a:ext cx="49011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Ready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https://www.nexdataforge.com/sw_006/hicon/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Provider: Vercel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4663440" y="454456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663440" y="4585716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로그 보기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97880" y="454456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897880" y="4585716"/>
            <a:ext cx="868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DEP-001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1220" dirty="0"/>
          </a:p>
        </p:txBody>
      </p:sp>
      <p:sp>
        <p:nvSpPr>
          <p:cNvPr id="53" name="Text 51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GitHub에 반영된 소스를 Vercel로 배포하고 결과 URL을 확인한다.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상태, Build 로그, Live URL, Rollback.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 → Vercel build → deploy success → site status LIVE.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GitHub Push 감지</a:t>
            </a:r>
          </a:p>
          <a:p>
            <a:r>
              <a:rPr sz="850"/>
              <a:t>Vercel 자동 배포</a:t>
            </a:r>
          </a:p>
        </p:txBody>
      </p:sp>
      <p:sp>
        <p:nvSpPr>
          <p:cNvPr id="64" name="Shape 62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deployment(id, site_id, provider, status, url), audit_log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프로젝트 연결, 환경변수, build success 확인.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웹호스팅 배포 상태는 deployment 테이블에 기록한다.</a:t>
            </a:r>
            <a:endParaRPr lang="en-US" sz="730" dirty="0"/>
          </a:p>
        </p:txBody>
      </p:sp>
      <p:sp>
        <p:nvSpPr>
          <p:cNvPr id="73" name="Text 71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29/30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858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TEST-001 개발/검수 기준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8120" y="20116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개발사가 반드시 확인해야 할 인수 조건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15488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749808"/>
            <a:ext cx="717804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749808"/>
            <a:ext cx="1417320" cy="5486400"/>
          </a:xfrm>
          <a:prstGeom prst="rect">
            <a:avLst/>
          </a:prstGeom>
          <a:solidFill>
            <a:srgbClr val="FBFC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74980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AIWF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9768" y="129844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136245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21208" y="174650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생성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21208" y="213055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관리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21208" y="251460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푸터 설정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21208" y="289864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설정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21208" y="3282696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관리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1208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1208" y="4818888"/>
            <a:ext cx="1005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관리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" y="5522976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6072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권한 보유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965960" y="896112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개발/검수 기준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868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8915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저장됨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976872" y="841248"/>
            <a:ext cx="59436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76872" y="882396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1664208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20240" y="1687068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40280" y="1682496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 사이트 생성 가능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920240" y="2011680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920240" y="2034540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40280" y="2029968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사용자는 게시판/자료실 관리만 가능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1920240" y="2359152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920240" y="2382012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40280" y="2377440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업체명 lowercase slug 검증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920240" y="2706624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920240" y="2729484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40280" y="2724912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/sw_006/{company}/index.html 생성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920240" y="3054096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920240" y="3076956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40280" y="3072384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Header/Footer 모든 페이지 포함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920240" y="3401568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20240" y="3424428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40280" y="3419856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중메뉴 Hover 시 소메뉴 표시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920240" y="3749040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920240" y="3771900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240280" y="3767328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레이아웃 변경 가능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920240" y="4096512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920240" y="4119372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40280" y="4114800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업로드 및 매핑 가능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1920240" y="4443984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920240" y="4466844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40280" y="4462272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CRUD 정상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1920240" y="4791456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920240" y="4814316"/>
            <a:ext cx="228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240280" y="4809744"/>
            <a:ext cx="4572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 / Vercel Deploy 정상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7726680" y="749808"/>
            <a:ext cx="4160520" cy="54864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91272" y="914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891272" y="937260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TEST-001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988552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 체크리스트</a:t>
            </a:r>
            <a:endParaRPr lang="en-US" sz="1220" dirty="0"/>
          </a:p>
        </p:txBody>
      </p:sp>
      <p:sp>
        <p:nvSpPr>
          <p:cNvPr id="61" name="Text 59"/>
          <p:cNvSpPr/>
          <p:nvPr/>
        </p:nvSpPr>
        <p:spPr>
          <a:xfrm>
            <a:off x="790956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8778240" y="131673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 기준으로 개발 완료 여부를 검수한다.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909560" y="185623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909560" y="192938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8778240" y="1929384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권한, 파일 생성, Header/Footer, 메뉴, Supabase CRUD, GitHub/Vercel 검수.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909560" y="2468880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9095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버튼/이벤트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8778240" y="254203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 완료 → 운영 반영 승인. 실패 항목 → 수정 요청.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7909560" y="3081528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90956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처리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87782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850"/>
              <a:t>Supabase 상태 조회</a:t>
            </a:r>
          </a:p>
          <a:p>
            <a:r>
              <a:rPr sz="850"/>
              <a:t>파일·배포 체크리스트</a:t>
            </a:r>
          </a:p>
        </p:txBody>
      </p:sp>
      <p:sp>
        <p:nvSpPr>
          <p:cNvPr id="72" name="Shape 70"/>
          <p:cNvSpPr/>
          <p:nvPr/>
        </p:nvSpPr>
        <p:spPr>
          <a:xfrm>
            <a:off x="7909560" y="3694176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877824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menu, footer, main_section, deployment, board_post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7909560" y="4306824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90956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Validation/권한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877824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필수 항목 PASS 전 배포 완료 처리 불가.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7909560" y="4919472"/>
            <a:ext cx="3794760" cy="0"/>
          </a:xfrm>
          <a:prstGeom prst="line">
            <a:avLst/>
          </a:prstGeom>
          <a:noFill/>
          <a:ln w="6350">
            <a:solidFill>
              <a:srgbClr val="DCE3EE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9095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메모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8778240" y="5641848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슬라이드는 개발 완료 후 UAT 체크리스트로 사용한다.</a:t>
            </a:r>
            <a:endParaRPr lang="en-US" sz="730" dirty="0"/>
          </a:p>
        </p:txBody>
      </p:sp>
      <p:sp>
        <p:nvSpPr>
          <p:cNvPr id="81" name="Text 79"/>
          <p:cNvSpPr/>
          <p:nvPr/>
        </p:nvSpPr>
        <p:spPr>
          <a:xfrm>
            <a:off x="320040" y="6620256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Website Factory 화면설계서 v6.0 · 30/30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315200" y="662025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생성형 홈페이지 제작 플랫폼 · Next.js + Supabase + GitHub + Vercel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 Website 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Website Factory 화면설계서 v5.0</dc:title>
  <dc:subject>AI Website Factory 화면설계서</dc:subject>
  <dc:creator>OpenAI</dc:creator>
  <cp:lastModifiedBy>OpenAI</cp:lastModifiedBy>
  <cp:revision>1</cp:revision>
  <dcterms:created xsi:type="dcterms:W3CDTF">2026-07-18T01:18:32Z</dcterms:created>
  <dcterms:modified xsi:type="dcterms:W3CDTF">2026-07-18T01:18:32Z</dcterms:modified>
</cp:coreProperties>
</file>